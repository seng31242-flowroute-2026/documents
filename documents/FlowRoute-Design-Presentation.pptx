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aleway" charset="1" panose="00000000000000000000"/>
      <p:regular r:id="rId19"/>
    </p:embeddedFont>
    <p:embeddedFont>
      <p:font typeface="Roboto" charset="1" panose="02000000000000000000"/>
      <p:regular r:id="rId20"/>
    </p:embeddedFont>
    <p:embeddedFont>
      <p:font typeface="Roboto Italics" charset="1" panose="02000000000000000000"/>
      <p:regular r:id="rId22"/>
    </p:embeddedFont>
    <p:embeddedFont>
      <p:font typeface="Roboto Bold" charset="1" panose="02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4.jpe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301840" cy="3546815"/>
            <a:chOff x="0" y="0"/>
            <a:chExt cx="24402453" cy="472908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402414" cy="4729099"/>
            </a:xfrm>
            <a:custGeom>
              <a:avLst/>
              <a:gdLst/>
              <a:ahLst/>
              <a:cxnLst/>
              <a:rect r="r" b="b" t="t" l="l"/>
              <a:pathLst>
                <a:path h="472909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729099"/>
                  </a:lnTo>
                  <a:lnTo>
                    <a:pt x="0" y="4729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2" r="0" b="-12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3134" y="4428325"/>
            <a:ext cx="15102440" cy="184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3"/>
              </a:lnSpc>
            </a:pPr>
            <a:r>
              <a:rPr lang="en-US" sz="11108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FlowRoute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3134" y="6655908"/>
            <a:ext cx="14893928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Automated Workflow &amp; Resource Manager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3134" y="7882385"/>
            <a:ext cx="17230658" cy="69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Design Presentation - System Requirements &amp; Software Design Specification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3134" y="8807005"/>
            <a:ext cx="17230658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Team: FlowRoute  |  Supervisor: Dr. Nalin Warnajith  |  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160081" y="761267"/>
            <a:ext cx="6124442" cy="67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405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60081" y="1622927"/>
            <a:ext cx="12896783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Video production agencies are forced into project tools built for software teams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32723" y="3449269"/>
            <a:ext cx="2604678" cy="34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20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Tool Overload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60081" y="3828517"/>
            <a:ext cx="3477320" cy="114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1"/>
              </a:lnSpc>
            </a:pPr>
            <a:r>
              <a:rPr lang="en-US" sz="202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Clients abandon intake forms in tools like Jira - too many fields, too much jargon.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054129" y="2122160"/>
            <a:ext cx="4193572" cy="4193677"/>
            <a:chOff x="0" y="0"/>
            <a:chExt cx="5591429" cy="559156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5591429" cy="5591556"/>
            </a:xfrm>
            <a:custGeom>
              <a:avLst/>
              <a:gdLst/>
              <a:ahLst/>
              <a:cxnLst/>
              <a:rect r="r" b="b" t="t" l="l"/>
              <a:pathLst>
                <a:path h="5591556" w="5591429">
                  <a:moveTo>
                    <a:pt x="0" y="0"/>
                  </a:moveTo>
                  <a:lnTo>
                    <a:pt x="5591429" y="0"/>
                  </a:lnTo>
                  <a:lnTo>
                    <a:pt x="5591429" y="5591556"/>
                  </a:lnTo>
                  <a:lnTo>
                    <a:pt x="0" y="5591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7924467" y="4072519"/>
            <a:ext cx="292970" cy="292970"/>
          </a:xfrm>
          <a:custGeom>
            <a:avLst/>
            <a:gdLst/>
            <a:ahLst/>
            <a:cxnLst/>
            <a:rect r="r" b="b" t="t" l="l"/>
            <a:pathLst>
              <a:path h="292970" w="292970">
                <a:moveTo>
                  <a:pt x="0" y="0"/>
                </a:moveTo>
                <a:lnTo>
                  <a:pt x="292970" y="0"/>
                </a:lnTo>
                <a:lnTo>
                  <a:pt x="292970" y="292969"/>
                </a:lnTo>
                <a:lnTo>
                  <a:pt x="0" y="2929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" t="0" r="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247711" y="2322652"/>
            <a:ext cx="2836574" cy="34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No Client-Friendly 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47711" y="2701900"/>
            <a:ext cx="3894058" cy="114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02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Generic Kanban boards expose internal workflow noise clients don't need to see.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054129" y="2122160"/>
            <a:ext cx="4193572" cy="4193677"/>
            <a:chOff x="0" y="0"/>
            <a:chExt cx="5591429" cy="5591569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591429" cy="5591556"/>
            </a:xfrm>
            <a:custGeom>
              <a:avLst/>
              <a:gdLst/>
              <a:ahLst/>
              <a:cxnLst/>
              <a:rect r="r" b="b" t="t" l="l"/>
              <a:pathLst>
                <a:path h="5591556" w="5591429">
                  <a:moveTo>
                    <a:pt x="0" y="0"/>
                  </a:moveTo>
                  <a:lnTo>
                    <a:pt x="5591429" y="0"/>
                  </a:lnTo>
                  <a:lnTo>
                    <a:pt x="5591429" y="5591556"/>
                  </a:lnTo>
                  <a:lnTo>
                    <a:pt x="0" y="5591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44345" y="3137287"/>
            <a:ext cx="292970" cy="292970"/>
            <a:chOff x="0" y="0"/>
            <a:chExt cx="390627" cy="390627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390652" cy="390652"/>
            </a:xfrm>
            <a:custGeom>
              <a:avLst/>
              <a:gdLst/>
              <a:ahLst/>
              <a:cxnLst/>
              <a:rect r="r" b="b" t="t" l="l"/>
              <a:pathLst>
                <a:path h="390652" w="390652">
                  <a:moveTo>
                    <a:pt x="0" y="0"/>
                  </a:moveTo>
                  <a:lnTo>
                    <a:pt x="390652" y="0"/>
                  </a:lnTo>
                  <a:lnTo>
                    <a:pt x="390652" y="390652"/>
                  </a:lnTo>
                  <a:lnTo>
                    <a:pt x="0" y="39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7" b="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247711" y="4575734"/>
            <a:ext cx="2756144" cy="34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Manual Routing Delays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47711" y="4954981"/>
            <a:ext cx="3894058" cy="114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02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Producers manually triage and assign incoming briefs, adding hours to every job.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054129" y="2122160"/>
            <a:ext cx="4193572" cy="4193677"/>
            <a:chOff x="0" y="0"/>
            <a:chExt cx="5591429" cy="5591569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591429" cy="5591556"/>
            </a:xfrm>
            <a:custGeom>
              <a:avLst/>
              <a:gdLst/>
              <a:ahLst/>
              <a:cxnLst/>
              <a:rect r="r" b="b" t="t" l="l"/>
              <a:pathLst>
                <a:path h="5591556" w="5591429">
                  <a:moveTo>
                    <a:pt x="0" y="0"/>
                  </a:moveTo>
                  <a:lnTo>
                    <a:pt x="5591429" y="0"/>
                  </a:lnTo>
                  <a:lnTo>
                    <a:pt x="5591429" y="5591556"/>
                  </a:lnTo>
                  <a:lnTo>
                    <a:pt x="0" y="5591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1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44345" y="5007588"/>
            <a:ext cx="292970" cy="292970"/>
            <a:chOff x="0" y="0"/>
            <a:chExt cx="390627" cy="390627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390652" cy="390652"/>
            </a:xfrm>
            <a:custGeom>
              <a:avLst/>
              <a:gdLst/>
              <a:ahLst/>
              <a:cxnLst/>
              <a:rect r="r" b="b" t="t" l="l"/>
              <a:pathLst>
                <a:path h="390652" w="390652">
                  <a:moveTo>
                    <a:pt x="0" y="0"/>
                  </a:moveTo>
                  <a:lnTo>
                    <a:pt x="390652" y="0"/>
                  </a:lnTo>
                  <a:lnTo>
                    <a:pt x="390652" y="390652"/>
                  </a:lnTo>
                  <a:lnTo>
                    <a:pt x="0" y="39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7" b="6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3160081" y="6687236"/>
            <a:ext cx="11981688" cy="59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2"/>
              </a:lnSpc>
            </a:pPr>
            <a:r>
              <a:rPr lang="en-US" sz="5404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48581" y="7479411"/>
            <a:ext cx="2604678" cy="34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sz="20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Days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60081" y="7877708"/>
            <a:ext cx="11981688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4"/>
              </a:lnSpc>
            </a:pPr>
            <a:r>
              <a:rPr lang="en-US" sz="15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average manual brief-to-assignment turnaround reported by our client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160081" y="8376933"/>
            <a:ext cx="28594" cy="922268"/>
            <a:chOff x="0" y="0"/>
            <a:chExt cx="38125" cy="12296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1229614"/>
            </a:xfrm>
            <a:custGeom>
              <a:avLst/>
              <a:gdLst/>
              <a:ahLst/>
              <a:cxnLst/>
              <a:rect r="r" b="b" t="t" l="l"/>
              <a:pathLst>
                <a:path h="122961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10564"/>
                  </a:lnTo>
                  <a:cubicBezTo>
                    <a:pt x="38100" y="1221105"/>
                    <a:pt x="29591" y="1229614"/>
                    <a:pt x="19050" y="1229614"/>
                  </a:cubicBezTo>
                  <a:cubicBezTo>
                    <a:pt x="8509" y="1229614"/>
                    <a:pt x="0" y="1221105"/>
                    <a:pt x="0" y="1210564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3472558" y="8510864"/>
            <a:ext cx="11669211" cy="616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 i="true">
                <a:solidFill>
                  <a:srgbClr val="3C3939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"We just need clients to drop a file and a brief - not learn an entire PM system."</a:t>
            </a:r>
          </a:p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- Client Interview #2, Sept 2025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3134" y="2714692"/>
            <a:ext cx="8659568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Who We're Building For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3134" y="4121210"/>
            <a:ext cx="17230658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Three actor groups defined in the SRS use-case model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371" y="4975346"/>
            <a:ext cx="5258800" cy="2571531"/>
            <a:chOff x="0" y="0"/>
            <a:chExt cx="7011734" cy="3428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11797" cy="3428746"/>
            </a:xfrm>
            <a:custGeom>
              <a:avLst/>
              <a:gdLst/>
              <a:ahLst/>
              <a:cxnLst/>
              <a:rect r="r" b="b" t="t" l="l"/>
              <a:pathLst>
                <a:path h="3428746" w="7011797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6852285" y="0"/>
                  </a:lnTo>
                  <a:cubicBezTo>
                    <a:pt x="6940423" y="0"/>
                    <a:pt x="7011797" y="71374"/>
                    <a:pt x="7011797" y="159512"/>
                  </a:cubicBezTo>
                  <a:lnTo>
                    <a:pt x="7011797" y="3269234"/>
                  </a:lnTo>
                  <a:cubicBezTo>
                    <a:pt x="7011797" y="3357372"/>
                    <a:pt x="6940423" y="3428746"/>
                    <a:pt x="6852285" y="3428746"/>
                  </a:cubicBezTo>
                  <a:lnTo>
                    <a:pt x="159512" y="3428746"/>
                  </a:lnTo>
                  <a:cubicBezTo>
                    <a:pt x="71374" y="3428746"/>
                    <a:pt x="0" y="3357245"/>
                    <a:pt x="0" y="3269234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86399" y="5254333"/>
            <a:ext cx="354672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Client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6399" y="5801154"/>
            <a:ext cx="4662735" cy="14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Submits video briefs and tracks delivery status. Wants minimal friction.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21367" y="4975346"/>
            <a:ext cx="5258953" cy="2571531"/>
            <a:chOff x="0" y="0"/>
            <a:chExt cx="7011937" cy="3428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11924" cy="3428746"/>
            </a:xfrm>
            <a:custGeom>
              <a:avLst/>
              <a:gdLst/>
              <a:ahLst/>
              <a:cxnLst/>
              <a:rect r="r" b="b" t="t" l="l"/>
              <a:pathLst>
                <a:path h="3428746" w="7011924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6852412" y="0"/>
                  </a:lnTo>
                  <a:cubicBezTo>
                    <a:pt x="6940550" y="0"/>
                    <a:pt x="7011924" y="71374"/>
                    <a:pt x="7011924" y="159512"/>
                  </a:cubicBezTo>
                  <a:lnTo>
                    <a:pt x="7011924" y="3269234"/>
                  </a:lnTo>
                  <a:cubicBezTo>
                    <a:pt x="7011924" y="3357372"/>
                    <a:pt x="6940550" y="3428746"/>
                    <a:pt x="6852412" y="3428746"/>
                  </a:cubicBezTo>
                  <a:lnTo>
                    <a:pt x="159512" y="3428746"/>
                  </a:lnTo>
                  <a:cubicBezTo>
                    <a:pt x="71374" y="3428746"/>
                    <a:pt x="0" y="3357245"/>
                    <a:pt x="0" y="3269234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819405" y="5254333"/>
            <a:ext cx="354672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Producer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19405" y="5801154"/>
            <a:ext cx="4662888" cy="14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Triages incoming requests and assigns them to the right editor or team.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54526" y="4975346"/>
            <a:ext cx="5258953" cy="2571531"/>
            <a:chOff x="0" y="0"/>
            <a:chExt cx="7011937" cy="34287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11924" cy="3428746"/>
            </a:xfrm>
            <a:custGeom>
              <a:avLst/>
              <a:gdLst/>
              <a:ahLst/>
              <a:cxnLst/>
              <a:rect r="r" b="b" t="t" l="l"/>
              <a:pathLst>
                <a:path h="3428746" w="7011924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6852412" y="0"/>
                  </a:lnTo>
                  <a:cubicBezTo>
                    <a:pt x="6940550" y="0"/>
                    <a:pt x="7011924" y="71374"/>
                    <a:pt x="7011924" y="159512"/>
                  </a:cubicBezTo>
                  <a:lnTo>
                    <a:pt x="7011924" y="3269234"/>
                  </a:lnTo>
                  <a:cubicBezTo>
                    <a:pt x="7011924" y="3357372"/>
                    <a:pt x="6940550" y="3428746"/>
                    <a:pt x="6852412" y="3428746"/>
                  </a:cubicBezTo>
                  <a:lnTo>
                    <a:pt x="159512" y="3428746"/>
                  </a:lnTo>
                  <a:cubicBezTo>
                    <a:pt x="71374" y="3428746"/>
                    <a:pt x="0" y="3357245"/>
                    <a:pt x="0" y="3269234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352553" y="5254333"/>
            <a:ext cx="354672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Routing Engine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52553" y="5801154"/>
            <a:ext cx="4662888" cy="14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Automated actor (Python service) that scores and assigns jobs by priority and load.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938222"/>
            <a:ext cx="9452677" cy="146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450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SRS Summary - Core Requirements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6182" y="2631443"/>
            <a:ext cx="10367762" cy="39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Five functional requirement clusters derived from client interviews and competitive analysis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7856182" y="3233433"/>
            <a:ext cx="9452677" cy="1383249"/>
          </a:xfrm>
          <a:custGeom>
            <a:avLst/>
            <a:gdLst/>
            <a:ahLst/>
            <a:cxnLst/>
            <a:rect r="r" b="b" t="t" l="l"/>
            <a:pathLst>
              <a:path h="1383249" w="9452677">
                <a:moveTo>
                  <a:pt x="0" y="0"/>
                </a:moveTo>
                <a:lnTo>
                  <a:pt x="9452677" y="0"/>
                </a:lnTo>
                <a:lnTo>
                  <a:pt x="9452677" y="1383249"/>
                </a:lnTo>
                <a:lnTo>
                  <a:pt x="0" y="1383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1" r="0" b="-581"/>
            </a:stretch>
          </a:blipFill>
        </p:spPr>
      </p:sp>
      <p:sp>
        <p:nvSpPr>
          <p:cNvPr name="Freeform 11" id="11" descr="preencoded.png"/>
          <p:cNvSpPr/>
          <p:nvPr/>
        </p:nvSpPr>
        <p:spPr>
          <a:xfrm flipH="false" flipV="false" rot="0">
            <a:off x="8168211" y="3752059"/>
            <a:ext cx="345691" cy="345700"/>
          </a:xfrm>
          <a:custGeom>
            <a:avLst/>
            <a:gdLst/>
            <a:ahLst/>
            <a:cxnLst/>
            <a:rect r="r" b="b" t="t" l="l"/>
            <a:pathLst>
              <a:path h="345700" w="345691">
                <a:moveTo>
                  <a:pt x="0" y="0"/>
                </a:moveTo>
                <a:lnTo>
                  <a:pt x="345691" y="0"/>
                </a:lnTo>
                <a:lnTo>
                  <a:pt x="345691" y="345701"/>
                </a:lnTo>
                <a:lnTo>
                  <a:pt x="0" y="345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994086" y="3473396"/>
            <a:ext cx="2881703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Client Intake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4086" y="3907755"/>
            <a:ext cx="8055759" cy="39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FR-01-03: Drag-and-drop upload, project metadata form, success/failure states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7856182" y="4803905"/>
            <a:ext cx="9452677" cy="1383249"/>
          </a:xfrm>
          <a:custGeom>
            <a:avLst/>
            <a:gdLst/>
            <a:ahLst/>
            <a:cxnLst/>
            <a:rect r="r" b="b" t="t" l="l"/>
            <a:pathLst>
              <a:path h="1383249" w="9452677">
                <a:moveTo>
                  <a:pt x="0" y="0"/>
                </a:moveTo>
                <a:lnTo>
                  <a:pt x="9452677" y="0"/>
                </a:lnTo>
                <a:lnTo>
                  <a:pt x="9452677" y="1383249"/>
                </a:lnTo>
                <a:lnTo>
                  <a:pt x="0" y="1383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1" r="0" b="-581"/>
            </a:stretch>
          </a:blipFill>
        </p:spPr>
      </p:sp>
      <p:sp>
        <p:nvSpPr>
          <p:cNvPr name="Freeform 15" id="15" descr="preencoded.png"/>
          <p:cNvSpPr/>
          <p:nvPr/>
        </p:nvSpPr>
        <p:spPr>
          <a:xfrm flipH="false" flipV="false" rot="0">
            <a:off x="8168211" y="5322532"/>
            <a:ext cx="345691" cy="345700"/>
          </a:xfrm>
          <a:custGeom>
            <a:avLst/>
            <a:gdLst/>
            <a:ahLst/>
            <a:cxnLst/>
            <a:rect r="r" b="b" t="t" l="l"/>
            <a:pathLst>
              <a:path h="345700" w="345691">
                <a:moveTo>
                  <a:pt x="0" y="0"/>
                </a:moveTo>
                <a:lnTo>
                  <a:pt x="345691" y="0"/>
                </a:lnTo>
                <a:lnTo>
                  <a:pt x="345691" y="345700"/>
                </a:lnTo>
                <a:lnTo>
                  <a:pt x="0" y="3457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994086" y="5043868"/>
            <a:ext cx="2881703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Auto-Routing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94086" y="5478228"/>
            <a:ext cx="8055759" cy="39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FR-04-06: Priority-based assignment of briefs to producers/editors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7856182" y="6374378"/>
            <a:ext cx="9452677" cy="1383249"/>
          </a:xfrm>
          <a:custGeom>
            <a:avLst/>
            <a:gdLst/>
            <a:ahLst/>
            <a:cxnLst/>
            <a:rect r="r" b="b" t="t" l="l"/>
            <a:pathLst>
              <a:path h="1383249" w="9452677">
                <a:moveTo>
                  <a:pt x="0" y="0"/>
                </a:moveTo>
                <a:lnTo>
                  <a:pt x="9452677" y="0"/>
                </a:lnTo>
                <a:lnTo>
                  <a:pt x="9452677" y="1383249"/>
                </a:lnTo>
                <a:lnTo>
                  <a:pt x="0" y="1383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1" r="0" b="-581"/>
            </a:stretch>
          </a:blipFill>
        </p:spPr>
      </p:sp>
      <p:sp>
        <p:nvSpPr>
          <p:cNvPr name="Freeform 19" id="19" descr="preencoded.png"/>
          <p:cNvSpPr/>
          <p:nvPr/>
        </p:nvSpPr>
        <p:spPr>
          <a:xfrm flipH="false" flipV="false" rot="0">
            <a:off x="8168211" y="6893004"/>
            <a:ext cx="345691" cy="345700"/>
          </a:xfrm>
          <a:custGeom>
            <a:avLst/>
            <a:gdLst/>
            <a:ahLst/>
            <a:cxnLst/>
            <a:rect r="r" b="b" t="t" l="l"/>
            <a:pathLst>
              <a:path h="345700" w="345691">
                <a:moveTo>
                  <a:pt x="0" y="0"/>
                </a:moveTo>
                <a:lnTo>
                  <a:pt x="345691" y="0"/>
                </a:lnTo>
                <a:lnTo>
                  <a:pt x="345691" y="345701"/>
                </a:lnTo>
                <a:lnTo>
                  <a:pt x="0" y="3457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352" t="0" r="-1352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994086" y="6614341"/>
            <a:ext cx="2881703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Status Tracking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94086" y="7048690"/>
            <a:ext cx="8055759" cy="39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FR-07-09: Real-time project status visible to client and team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7856182" y="7944850"/>
            <a:ext cx="9452677" cy="1383249"/>
          </a:xfrm>
          <a:custGeom>
            <a:avLst/>
            <a:gdLst/>
            <a:ahLst/>
            <a:cxnLst/>
            <a:rect r="r" b="b" t="t" l="l"/>
            <a:pathLst>
              <a:path h="1383249" w="9452677">
                <a:moveTo>
                  <a:pt x="0" y="0"/>
                </a:moveTo>
                <a:lnTo>
                  <a:pt x="9452677" y="0"/>
                </a:lnTo>
                <a:lnTo>
                  <a:pt x="9452677" y="1383249"/>
                </a:lnTo>
                <a:lnTo>
                  <a:pt x="0" y="1383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1" r="0" b="-581"/>
            </a:stretch>
          </a:blipFill>
        </p:spPr>
      </p:sp>
      <p:sp>
        <p:nvSpPr>
          <p:cNvPr name="Freeform 23" id="23" descr="preencoded.png"/>
          <p:cNvSpPr/>
          <p:nvPr/>
        </p:nvSpPr>
        <p:spPr>
          <a:xfrm flipH="false" flipV="false" rot="0">
            <a:off x="8168211" y="8463477"/>
            <a:ext cx="345691" cy="345700"/>
          </a:xfrm>
          <a:custGeom>
            <a:avLst/>
            <a:gdLst/>
            <a:ahLst/>
            <a:cxnLst/>
            <a:rect r="r" b="b" t="t" l="l"/>
            <a:pathLst>
              <a:path h="345700" w="345691">
                <a:moveTo>
                  <a:pt x="0" y="0"/>
                </a:moveTo>
                <a:lnTo>
                  <a:pt x="345691" y="0"/>
                </a:lnTo>
                <a:lnTo>
                  <a:pt x="345691" y="345700"/>
                </a:lnTo>
                <a:lnTo>
                  <a:pt x="0" y="345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994086" y="8184813"/>
            <a:ext cx="2881703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Delivery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94086" y="8619163"/>
            <a:ext cx="8055759" cy="39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FR-10-12: Final asset packaging and secure client download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3134" y="1225839"/>
            <a:ext cx="8008696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3134" y="2632367"/>
            <a:ext cx="17230658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Layered architecture - decided in ADR-01, optimized for independent scaling of the routing engine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3134" y="3491255"/>
            <a:ext cx="8157782" cy="1134961"/>
            <a:chOff x="0" y="0"/>
            <a:chExt cx="10877042" cy="15132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877042" cy="1513332"/>
            </a:xfrm>
            <a:custGeom>
              <a:avLst/>
              <a:gdLst/>
              <a:ahLst/>
              <a:cxnLst/>
              <a:rect r="r" b="b" t="t" l="l"/>
              <a:pathLst>
                <a:path h="1513332" w="10877042">
                  <a:moveTo>
                    <a:pt x="0" y="0"/>
                  </a:moveTo>
                  <a:lnTo>
                    <a:pt x="10877042" y="0"/>
                  </a:lnTo>
                  <a:lnTo>
                    <a:pt x="10877042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1" r="0" b="-37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76864" y="4890907"/>
            <a:ext cx="354672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Client Tier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864" y="5437737"/>
            <a:ext cx="7590320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React SPA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50925" y="3491255"/>
            <a:ext cx="8157782" cy="1134961"/>
            <a:chOff x="0" y="0"/>
            <a:chExt cx="10877042" cy="151328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877042" cy="1513332"/>
            </a:xfrm>
            <a:custGeom>
              <a:avLst/>
              <a:gdLst/>
              <a:ahLst/>
              <a:cxnLst/>
              <a:rect r="r" b="b" t="t" l="l"/>
              <a:pathLst>
                <a:path h="1513332" w="10877042">
                  <a:moveTo>
                    <a:pt x="0" y="0"/>
                  </a:moveTo>
                  <a:lnTo>
                    <a:pt x="10877042" y="0"/>
                  </a:lnTo>
                  <a:lnTo>
                    <a:pt x="10877042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81" r="0" b="-37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434655" y="4890907"/>
            <a:ext cx="354672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Gateway Tier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34655" y="5437737"/>
            <a:ext cx="7590320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API Gateway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3134" y="6261183"/>
            <a:ext cx="8157782" cy="1134961"/>
            <a:chOff x="0" y="0"/>
            <a:chExt cx="10877042" cy="1513281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0877042" cy="1513332"/>
            </a:xfrm>
            <a:custGeom>
              <a:avLst/>
              <a:gdLst/>
              <a:ahLst/>
              <a:cxnLst/>
              <a:rect r="r" b="b" t="t" l="l"/>
              <a:pathLst>
                <a:path h="1513332" w="10877042">
                  <a:moveTo>
                    <a:pt x="0" y="0"/>
                  </a:moveTo>
                  <a:lnTo>
                    <a:pt x="10877042" y="0"/>
                  </a:lnTo>
                  <a:lnTo>
                    <a:pt x="10877042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81" r="0" b="-378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76864" y="7660824"/>
            <a:ext cx="354672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Application Tier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6864" y="8207654"/>
            <a:ext cx="7590320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Node.js API + Python Routing Engine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50925" y="6261183"/>
            <a:ext cx="8157782" cy="1134961"/>
            <a:chOff x="0" y="0"/>
            <a:chExt cx="10877042" cy="1513281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0877042" cy="1513332"/>
            </a:xfrm>
            <a:custGeom>
              <a:avLst/>
              <a:gdLst/>
              <a:ahLst/>
              <a:cxnLst/>
              <a:rect r="r" b="b" t="t" l="l"/>
              <a:pathLst>
                <a:path h="1513332" w="10877042">
                  <a:moveTo>
                    <a:pt x="0" y="0"/>
                  </a:moveTo>
                  <a:lnTo>
                    <a:pt x="10877042" y="0"/>
                  </a:lnTo>
                  <a:lnTo>
                    <a:pt x="10877042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81" r="0" b="-378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434655" y="7660824"/>
            <a:ext cx="354672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 Tier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34655" y="8207654"/>
            <a:ext cx="7590320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MongoDB + File Storage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57953" y="780193"/>
            <a:ext cx="8288407" cy="83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6"/>
              </a:lnSpc>
            </a:pPr>
            <a:r>
              <a:rPr lang="en-US" sz="5028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Why This Stack - ADR-01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7953" y="2175643"/>
            <a:ext cx="4129383" cy="42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Decision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57953" y="2762679"/>
            <a:ext cx="5537911" cy="85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Node.js API + separate Python service for routing logic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7953" y="3827593"/>
            <a:ext cx="4129383" cy="42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Rationale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7953" y="4414618"/>
            <a:ext cx="5537911" cy="297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3" indent="-176727" lvl="1">
              <a:lnSpc>
                <a:spcPts val="2974"/>
              </a:lnSpc>
              <a:buFont typeface="Arial"/>
              <a:buChar char="•"/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Routing/assignment logic benefits from Python's data/ML ecosystem for future scoring improvements</a:t>
            </a:r>
          </a:p>
          <a:p>
            <a:pPr algn="l" marL="353453" indent="-176727" lvl="1">
              <a:lnSpc>
                <a:spcPts val="2974"/>
              </a:lnSpc>
              <a:buFont typeface="Arial"/>
              <a:buChar char="•"/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Decouples scaling - routing engine can scale independently under load spikes</a:t>
            </a:r>
          </a:p>
          <a:p>
            <a:pPr algn="l" marL="353453" indent="-176727" lvl="1">
              <a:lnSpc>
                <a:spcPts val="2974"/>
              </a:lnSpc>
              <a:buFont typeface="Arial"/>
              <a:buChar char="•"/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Node.js keeps the REST/auth layer in the team's strongest skill 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32734" y="2175643"/>
            <a:ext cx="4465844" cy="42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Alternatives Considered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927972" y="2853776"/>
            <a:ext cx="8630079" cy="4780674"/>
            <a:chOff x="0" y="0"/>
            <a:chExt cx="11506772" cy="63742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06708" cy="6374130"/>
            </a:xfrm>
            <a:custGeom>
              <a:avLst/>
              <a:gdLst/>
              <a:ahLst/>
              <a:cxnLst/>
              <a:rect r="r" b="b" t="t" l="l"/>
              <a:pathLst>
                <a:path h="6374130" w="11506708">
                  <a:moveTo>
                    <a:pt x="0" y="144272"/>
                  </a:moveTo>
                  <a:cubicBezTo>
                    <a:pt x="0" y="64643"/>
                    <a:pt x="64643" y="0"/>
                    <a:pt x="144272" y="0"/>
                  </a:cubicBezTo>
                  <a:lnTo>
                    <a:pt x="11362436" y="0"/>
                  </a:lnTo>
                  <a:cubicBezTo>
                    <a:pt x="11442192" y="0"/>
                    <a:pt x="11506708" y="64643"/>
                    <a:pt x="11506708" y="144272"/>
                  </a:cubicBezTo>
                  <a:lnTo>
                    <a:pt x="11506708" y="6229858"/>
                  </a:lnTo>
                  <a:cubicBezTo>
                    <a:pt x="11506708" y="6309614"/>
                    <a:pt x="11442065" y="6374130"/>
                    <a:pt x="11362436" y="6374130"/>
                  </a:cubicBezTo>
                  <a:lnTo>
                    <a:pt x="144272" y="6374130"/>
                  </a:lnTo>
                  <a:cubicBezTo>
                    <a:pt x="64643" y="6374257"/>
                    <a:pt x="0" y="6309614"/>
                    <a:pt x="0" y="622985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074" t="0" r="-21075" b="-1"/>
              </a:stretch>
            </a:blipFill>
            <a:ln w="9532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199491" y="2950645"/>
            <a:ext cx="3841480" cy="45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Option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40017" y="2950645"/>
            <a:ext cx="3841480" cy="45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Trade-off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80552" y="2950645"/>
            <a:ext cx="2121217" cy="45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b="true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Verdict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99491" y="3650828"/>
            <a:ext cx="3841480" cy="45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Monolith (Node only)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40017" y="3650828"/>
            <a:ext cx="2926385" cy="124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Simpler, but couples routing logic to API scaling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80552" y="3650828"/>
            <a:ext cx="2121217" cy="45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Rejected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99491" y="5135356"/>
            <a:ext cx="3841480" cy="45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Full microservices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40017" y="5135356"/>
            <a:ext cx="2926385" cy="85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Over-engineered for an 8-week design scope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80552" y="5135356"/>
            <a:ext cx="2121217" cy="45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Rejected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99491" y="6227721"/>
            <a:ext cx="3841480" cy="45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Node + Python (chosen)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40017" y="6227721"/>
            <a:ext cx="2926385" cy="124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Slight ops overhead, but clean separation of concerns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080552" y="6227721"/>
            <a:ext cx="2121217" cy="45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Accepted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932734" y="7891824"/>
            <a:ext cx="8620544" cy="1332157"/>
            <a:chOff x="0" y="0"/>
            <a:chExt cx="11494059" cy="17762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94136" cy="1776222"/>
            </a:xfrm>
            <a:custGeom>
              <a:avLst/>
              <a:gdLst/>
              <a:ahLst/>
              <a:cxnLst/>
              <a:rect r="r" b="b" t="t" l="l"/>
              <a:pathLst>
                <a:path h="1776222" w="11494136">
                  <a:moveTo>
                    <a:pt x="0" y="144018"/>
                  </a:moveTo>
                  <a:cubicBezTo>
                    <a:pt x="0" y="64516"/>
                    <a:pt x="64516" y="0"/>
                    <a:pt x="144018" y="0"/>
                  </a:cubicBezTo>
                  <a:lnTo>
                    <a:pt x="11350117" y="0"/>
                  </a:lnTo>
                  <a:cubicBezTo>
                    <a:pt x="11429619" y="0"/>
                    <a:pt x="11494136" y="64516"/>
                    <a:pt x="11494136" y="144018"/>
                  </a:cubicBezTo>
                  <a:lnTo>
                    <a:pt x="11494136" y="1632204"/>
                  </a:lnTo>
                  <a:cubicBezTo>
                    <a:pt x="11494136" y="1711706"/>
                    <a:pt x="11429619" y="1776222"/>
                    <a:pt x="11350117" y="1776222"/>
                  </a:cubicBezTo>
                  <a:lnTo>
                    <a:pt x="144018" y="1776222"/>
                  </a:lnTo>
                  <a:cubicBezTo>
                    <a:pt x="64516" y="1776222"/>
                    <a:pt x="0" y="1711706"/>
                    <a:pt x="0" y="1632204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189805" y="8264481"/>
            <a:ext cx="321412" cy="257080"/>
            <a:chOff x="0" y="0"/>
            <a:chExt cx="428549" cy="342773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428498" cy="342773"/>
            </a:xfrm>
            <a:custGeom>
              <a:avLst/>
              <a:gdLst/>
              <a:ahLst/>
              <a:cxnLst/>
              <a:rect r="r" b="b" t="t" l="l"/>
              <a:pathLst>
                <a:path h="342773" w="428498">
                  <a:moveTo>
                    <a:pt x="0" y="0"/>
                  </a:moveTo>
                  <a:lnTo>
                    <a:pt x="428498" y="0"/>
                  </a:lnTo>
                  <a:lnTo>
                    <a:pt x="428498" y="342773"/>
                  </a:lnTo>
                  <a:lnTo>
                    <a:pt x="0" y="342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8" t="0" r="-373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768296" y="8099060"/>
            <a:ext cx="7527912" cy="85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i="true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Quality attributes addressed: scalability, maintainability, independent deplorability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301840" cy="1440885"/>
            <a:chOff x="0" y="0"/>
            <a:chExt cx="24402453" cy="192118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402414" cy="1921129"/>
            </a:xfrm>
            <a:custGeom>
              <a:avLst/>
              <a:gdLst/>
              <a:ahLst/>
              <a:cxnLst/>
              <a:rect r="r" b="b" t="t" l="l"/>
              <a:pathLst>
                <a:path h="192112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921129"/>
                  </a:lnTo>
                  <a:lnTo>
                    <a:pt x="0" y="1921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7" r="0" b="-28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522763" y="2270827"/>
            <a:ext cx="9800901" cy="74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450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UI Prototype - Client Intake Portal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22763" y="3243605"/>
            <a:ext cx="14171419" cy="39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Three-screen flow: minimal, drag-and-drop first, clear success/failure states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522763" y="3845595"/>
            <a:ext cx="4262685" cy="4262790"/>
            <a:chOff x="0" y="0"/>
            <a:chExt cx="5683580" cy="568372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5683631" cy="5683758"/>
            </a:xfrm>
            <a:custGeom>
              <a:avLst/>
              <a:gdLst/>
              <a:ahLst/>
              <a:cxnLst/>
              <a:rect r="r" b="b" t="t" l="l"/>
              <a:pathLst>
                <a:path h="5683758" w="5683631">
                  <a:moveTo>
                    <a:pt x="0" y="0"/>
                  </a:moveTo>
                  <a:lnTo>
                    <a:pt x="5683631" y="0"/>
                  </a:lnTo>
                  <a:lnTo>
                    <a:pt x="5683631" y="5683758"/>
                  </a:lnTo>
                  <a:lnTo>
                    <a:pt x="0" y="5683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522763" y="8276558"/>
            <a:ext cx="2881703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01 - Upload Form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22763" y="8710917"/>
            <a:ext cx="4262685" cy="72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Drag-and-drop zone + project title, priority, and brief fields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019582" y="3845595"/>
            <a:ext cx="4262685" cy="4262790"/>
            <a:chOff x="0" y="0"/>
            <a:chExt cx="5683580" cy="568372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5683631" cy="5683758"/>
            </a:xfrm>
            <a:custGeom>
              <a:avLst/>
              <a:gdLst/>
              <a:ahLst/>
              <a:cxnLst/>
              <a:rect r="r" b="b" t="t" l="l"/>
              <a:pathLst>
                <a:path h="5683758" w="5683631">
                  <a:moveTo>
                    <a:pt x="0" y="0"/>
                  </a:moveTo>
                  <a:lnTo>
                    <a:pt x="5683631" y="0"/>
                  </a:lnTo>
                  <a:lnTo>
                    <a:pt x="5683631" y="5683758"/>
                  </a:lnTo>
                  <a:lnTo>
                    <a:pt x="0" y="5683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019582" y="8276558"/>
            <a:ext cx="2881703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02 - Success State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9582" y="8710917"/>
            <a:ext cx="4262685" cy="72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Confirmation with reference ID and submission summary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516401" y="3845595"/>
            <a:ext cx="4262685" cy="4262790"/>
            <a:chOff x="0" y="0"/>
            <a:chExt cx="5683580" cy="568372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683631" cy="5683758"/>
            </a:xfrm>
            <a:custGeom>
              <a:avLst/>
              <a:gdLst/>
              <a:ahLst/>
              <a:cxnLst/>
              <a:rect r="r" b="b" t="t" l="l"/>
              <a:pathLst>
                <a:path h="5683758" w="5683631">
                  <a:moveTo>
                    <a:pt x="0" y="0"/>
                  </a:moveTo>
                  <a:lnTo>
                    <a:pt x="5683631" y="0"/>
                  </a:lnTo>
                  <a:lnTo>
                    <a:pt x="5683631" y="5683758"/>
                  </a:lnTo>
                  <a:lnTo>
                    <a:pt x="0" y="5683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516401" y="8276558"/>
            <a:ext cx="2881703" cy="37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03 - Failure State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16401" y="8710917"/>
            <a:ext cx="4262685" cy="72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Inline, specific error messages with retry path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669897" y="770363"/>
            <a:ext cx="7388952" cy="62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367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From Design to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69897" y="1567805"/>
            <a:ext cx="11877132" cy="27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42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What's locked in for SENG 34213, and what's still open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69897" y="1985877"/>
            <a:ext cx="10106825" cy="5613864"/>
            <a:chOff x="0" y="0"/>
            <a:chExt cx="13475767" cy="748515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3475715" cy="7485126"/>
            </a:xfrm>
            <a:custGeom>
              <a:avLst/>
              <a:gdLst/>
              <a:ahLst/>
              <a:cxnLst/>
              <a:rect r="r" b="b" t="t" l="l"/>
              <a:pathLst>
                <a:path h="7485126" w="13475715">
                  <a:moveTo>
                    <a:pt x="0" y="0"/>
                  </a:moveTo>
                  <a:lnTo>
                    <a:pt x="13475715" y="0"/>
                  </a:lnTo>
                  <a:lnTo>
                    <a:pt x="13475715" y="7485126"/>
                  </a:lnTo>
                  <a:lnTo>
                    <a:pt x="0" y="7485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" t="0" r="-28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669897" y="7772829"/>
            <a:ext cx="3774758" cy="37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Finalized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69897" y="8322440"/>
            <a:ext cx="10962037" cy="1173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8293" indent="-129146" lvl="1">
              <a:lnSpc>
                <a:spcPts val="1899"/>
              </a:lnSpc>
              <a:buFont typeface="Arial"/>
              <a:buChar char="•"/>
            </a:pPr>
            <a:r>
              <a:rPr lang="en-US" sz="142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SRS with 12 functional requirements, signed off</a:t>
            </a:r>
          </a:p>
          <a:p>
            <a:pPr algn="l" marL="258293" indent="-129146" lvl="1">
              <a:lnSpc>
                <a:spcPts val="1899"/>
              </a:lnSpc>
              <a:buFont typeface="Arial"/>
              <a:buChar char="•"/>
            </a:pPr>
            <a:r>
              <a:rPr lang="en-US" sz="142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Architecture (ADR-01) and component diagrams</a:t>
            </a:r>
          </a:p>
          <a:p>
            <a:pPr algn="l" marL="258293" indent="-129146" lvl="1">
              <a:lnSpc>
                <a:spcPts val="1899"/>
              </a:lnSpc>
              <a:buFont typeface="Arial"/>
              <a:buChar char="•"/>
            </a:pPr>
            <a:r>
              <a:rPr lang="en-US" sz="142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Client intake portal wireframes, team-approved</a:t>
            </a:r>
          </a:p>
          <a:p>
            <a:pPr algn="l" marL="258293" indent="-129146" lvl="1">
              <a:lnSpc>
                <a:spcPts val="1899"/>
              </a:lnSpc>
              <a:buFont typeface="Arial"/>
              <a:buChar char="•"/>
            </a:pPr>
            <a:r>
              <a:rPr lang="en-US" sz="142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Database schema for projects, users, assets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522763" y="798957"/>
            <a:ext cx="8920810" cy="60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From Specification to Implementation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22763" y="1895465"/>
            <a:ext cx="4996367" cy="6311227"/>
            <a:chOff x="0" y="0"/>
            <a:chExt cx="6661823" cy="841496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661785" cy="8415020"/>
            </a:xfrm>
            <a:custGeom>
              <a:avLst/>
              <a:gdLst/>
              <a:ahLst/>
              <a:cxnLst/>
              <a:rect r="r" b="b" t="t" l="l"/>
              <a:pathLst>
                <a:path h="8415020" w="6661785">
                  <a:moveTo>
                    <a:pt x="0" y="0"/>
                  </a:moveTo>
                  <a:lnTo>
                    <a:pt x="6661785" y="0"/>
                  </a:lnTo>
                  <a:lnTo>
                    <a:pt x="6661785" y="8415020"/>
                  </a:lnTo>
                  <a:lnTo>
                    <a:pt x="0" y="8415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" t="0" r="-12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41656" y="3013634"/>
            <a:ext cx="6346965" cy="1590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5" indent="-163132" lvl="1">
              <a:lnSpc>
                <a:spcPts val="2615"/>
              </a:lnSpc>
              <a:buFont typeface="Arial"/>
              <a:buChar char="•"/>
            </a:pPr>
            <a:r>
              <a:rPr lang="en-US" sz="18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Routing algorithm scoring weights - needs real usage data</a:t>
            </a:r>
          </a:p>
          <a:p>
            <a:pPr algn="l" marL="326265" indent="-163132" lvl="1">
              <a:lnSpc>
                <a:spcPts val="2615"/>
              </a:lnSpc>
              <a:buFont typeface="Arial"/>
              <a:buChar char="•"/>
            </a:pPr>
            <a:r>
              <a:rPr lang="en-US" sz="18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Authentication provider selection (Auth0 vs. custom JWT)</a:t>
            </a:r>
          </a:p>
          <a:p>
            <a:pPr algn="l" marL="326265" indent="-163132" lvl="1">
              <a:lnSpc>
                <a:spcPts val="2615"/>
              </a:lnSpc>
              <a:buFont typeface="Arial"/>
              <a:buChar char="•"/>
            </a:pPr>
            <a:r>
              <a:rPr lang="en-US" sz="18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Load testing plan for concurrent uploads</a:t>
            </a:r>
          </a:p>
          <a:p>
            <a:pPr algn="l" marL="326265" indent="-163132" lvl="1">
              <a:lnSpc>
                <a:spcPts val="2615"/>
              </a:lnSpc>
              <a:buFont typeface="Arial"/>
              <a:buChar char="•"/>
            </a:pPr>
            <a:r>
              <a:rPr lang="en-US" sz="18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CI/CD pipeline - GitHub Actions becomes mandator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301840" cy="3546815"/>
            <a:chOff x="0" y="0"/>
            <a:chExt cx="24402453" cy="472908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402414" cy="4729099"/>
            </a:xfrm>
            <a:custGeom>
              <a:avLst/>
              <a:gdLst/>
              <a:ahLst/>
              <a:cxnLst/>
              <a:rect r="r" b="b" t="t" l="l"/>
              <a:pathLst>
                <a:path h="472909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729099"/>
                  </a:lnTo>
                  <a:lnTo>
                    <a:pt x="0" y="4729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2" r="0" b="-12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3134" y="5471084"/>
            <a:ext cx="15102440" cy="184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3"/>
              </a:lnSpc>
            </a:pPr>
            <a:r>
              <a:rPr lang="en-US" sz="11108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3134" y="7612951"/>
            <a:ext cx="17230658" cy="69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277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DAHNR4MoKYA</dc:identifier>
  <dcterms:modified xsi:type="dcterms:W3CDTF">2011-08-01T06:04:30Z</dcterms:modified>
  <cp:revision>1</cp:revision>
  <dc:title>FlowRoute.pptx</dc:title>
</cp:coreProperties>
</file>